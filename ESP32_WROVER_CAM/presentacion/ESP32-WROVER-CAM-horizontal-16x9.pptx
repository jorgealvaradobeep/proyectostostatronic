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ESP32-WROVER-CAM junta en una sola placa un ESP32 de doble núcleo, 4 MB de PSRAM, WiFi, Bluetooth y una cámara OV2640 de 2 megapíxeles.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necesitas agregarle nada para empezar: el módulo, la memoria, la radio, el convertidor USB y la cámara ya vienen juntos.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diferencia práctica más grande frente a una ESP32-CAM clásica. Conectas el Micro-USB y cargas, como cualquier placa de desarrollo.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cuadro a 1600 por 1200 en RGB565 pesa 3.8 megabytes. La RAM interna del ESP32 son 520 kilobytes en total: no cabe. Por eso la PSRAM no es un lujo en una placa con cámara.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placa levanta su propio servidor web. Abres la IP desde cualquier navegador de la red y ves el video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cuatro cosas que la hacen práctica para prototipar rápido.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estos salen con la placa tal como viene, sin hardware adicional más allá de la alimentación.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detalle que arruina proyectos: montas un sensor sobre un pin de la cámara y la cámara deja de inicializar. Revisa el pinout antes de diseñar.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Placa y cámara disponibles en tostatronic.com.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rover/img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57200"/>
            <a:ext cx="1828800" cy="109051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7830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50" kern="0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ESP32-WROVER-CAM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560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Cámara OV2640 · 2 MP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1546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WiFi, PSRAM y programación por USB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sola placa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462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 por Tostatronic  ·  Ing. Jorge Alvarado  ·  tostatronic.com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rover/img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1856" y="365760"/>
            <a:ext cx="256032" cy="29260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26680" y="7132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TOSTATRONIC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48"/>
              </a:lnSpc>
              <a:buNone/>
            </a:pPr>
            <a:r>
              <a:rPr lang="en-US" sz="28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integrado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 doble núcleo, 4 MB de PSRAM, WiFi, Bluetooth y la cámara OV2640.</a:t>
            </a:r>
            <a:endParaRPr lang="en-US" sz="1400" dirty="0"/>
          </a:p>
        </p:txBody>
      </p:sp>
      <p:pic>
        <p:nvPicPr>
          <p:cNvPr id="6" name="Image 1" descr="/home/claude/wrover/img/w-plac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476" y="1481328"/>
            <a:ext cx="5191049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rover/img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1856" y="365760"/>
            <a:ext cx="256032" cy="29260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26680" y="7132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TOSTATRONIC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48"/>
              </a:lnSpc>
              <a:buNone/>
            </a:pPr>
            <a:r>
              <a:rPr lang="en-US" sz="28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programa con un cable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CH340C viene integrado. Sin adaptador USB-TTL y sin puentear GPIO0 en cada carga.</a:t>
            </a:r>
            <a:endParaRPr lang="en-US" sz="1400" dirty="0"/>
          </a:p>
        </p:txBody>
      </p:sp>
      <p:pic>
        <p:nvPicPr>
          <p:cNvPr id="6" name="Image 1" descr="/home/claude/wrover/img/w-us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257" y="1481328"/>
            <a:ext cx="5485486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rover/img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1856" y="365760"/>
            <a:ext cx="256032" cy="29260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26680" y="7132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TOSTATRONIC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48"/>
              </a:lnSpc>
              <a:buNone/>
            </a:pPr>
            <a:r>
              <a:rPr lang="en-US" sz="28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qué sirven 4 MB de PSRAM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Ahí vive el cuadro de imagen. Es lo que te deja usar la resolución completa del sensor.</a:t>
            </a:r>
            <a:endParaRPr lang="en-US" sz="1400" dirty="0"/>
          </a:p>
        </p:txBody>
      </p:sp>
      <p:pic>
        <p:nvPicPr>
          <p:cNvPr id="6" name="Image 1" descr="/home/claude/wrover/img/w-ps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1481328"/>
            <a:ext cx="4800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rover/img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1856" y="365760"/>
            <a:ext cx="256032" cy="29260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26680" y="7132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TOSTATRONIC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48"/>
              </a:lnSpc>
              <a:buNone/>
            </a:pPr>
            <a:r>
              <a:rPr lang="en-US" sz="28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lente al navegador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Captura, comprime y sirve el video por WiFi. Sin servidor externo.</a:t>
            </a:r>
            <a:endParaRPr lang="en-US" sz="1400" dirty="0"/>
          </a:p>
        </p:txBody>
      </p:sp>
      <p:pic>
        <p:nvPicPr>
          <p:cNvPr id="6" name="Image 1" descr="/home/claude/wrover/img/w-pipe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476" y="1481328"/>
            <a:ext cx="5191049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rover/img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1856" y="365760"/>
            <a:ext cx="256032" cy="29260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26680" y="7132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TOSTATRONIC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48"/>
              </a:lnSpc>
              <a:buNone/>
            </a:pPr>
            <a:r>
              <a:rPr lang="en-US" sz="28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904488" cy="1234440"/>
          </a:xfrm>
          <a:prstGeom prst="roundRect">
            <a:avLst>
              <a:gd name="adj" fmla="val 5926"/>
            </a:avLst>
          </a:prstGeom>
          <a:solidFill>
            <a:srgbClr val="1A222A"/>
          </a:solidFill>
          <a:ln w="12700">
            <a:solidFill>
              <a:srgbClr val="2B35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" y="1691640"/>
            <a:ext cx="182880" cy="182880"/>
          </a:xfrm>
          <a:prstGeom prst="ellipse">
            <a:avLst/>
          </a:prstGeom>
          <a:solidFill>
            <a:srgbClr val="2DD4A7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1609344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programa por USB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31272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cable Micro-USB. Sin FTDI ni puentear GPIO0.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90872" y="1417320"/>
            <a:ext cx="3904488" cy="1234440"/>
          </a:xfrm>
          <a:prstGeom prst="roundRect">
            <a:avLst>
              <a:gd name="adj" fmla="val 5926"/>
            </a:avLst>
          </a:prstGeom>
          <a:solidFill>
            <a:srgbClr val="1A222A"/>
          </a:solidFill>
          <a:ln w="12700">
            <a:solidFill>
              <a:srgbClr val="2B35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28616" y="1691640"/>
            <a:ext cx="182880" cy="182880"/>
          </a:xfrm>
          <a:prstGeom prst="ellipse">
            <a:avLst/>
          </a:prstGeom>
          <a:solidFill>
            <a:srgbClr val="4BA8F5"/>
          </a:solidFill>
          <a:ln w="12700">
            <a:solidFill>
              <a:srgbClr val="4BA8F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239512" y="1609344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MB de PSRAM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239512" y="1965960"/>
            <a:ext cx="31272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 de imagen a resolución completa del sensor.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2889504"/>
            <a:ext cx="3904488" cy="1234440"/>
          </a:xfrm>
          <a:prstGeom prst="roundRect">
            <a:avLst>
              <a:gd name="adj" fmla="val 5926"/>
            </a:avLst>
          </a:prstGeom>
          <a:solidFill>
            <a:srgbClr val="1A222A"/>
          </a:solidFill>
          <a:ln w="12700">
            <a:solidFill>
              <a:srgbClr val="2B353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86384" y="3163824"/>
            <a:ext cx="182880" cy="182880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97280" y="3081528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Doble núcleo a 240 MHz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097280" y="3438144"/>
            <a:ext cx="31272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núcleo captura, el otro sirve la red.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690872" y="2889504"/>
            <a:ext cx="3904488" cy="1234440"/>
          </a:xfrm>
          <a:prstGeom prst="roundRect">
            <a:avLst>
              <a:gd name="adj" fmla="val 5926"/>
            </a:avLst>
          </a:prstGeom>
          <a:solidFill>
            <a:srgbClr val="1A222A"/>
          </a:solidFill>
          <a:ln w="12700">
            <a:solidFill>
              <a:srgbClr val="2B353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928616" y="3163824"/>
            <a:ext cx="182880" cy="182880"/>
          </a:xfrm>
          <a:prstGeom prst="ellipse">
            <a:avLst/>
          </a:prstGeom>
          <a:solidFill>
            <a:srgbClr val="2DD4A7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239512" y="3081528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WiFi, Bluetooth y antena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239512" y="3438144"/>
            <a:ext cx="31272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 integrada, sin módulos extra.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rover/img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1856" y="365760"/>
            <a:ext cx="256032" cy="29260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26680" y="7132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TOSTATRONIC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48"/>
              </a:lnSpc>
              <a:buNone/>
            </a:pPr>
            <a:r>
              <a:rPr lang="en-US" sz="28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Proyectos que puedes armar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2523744" cy="1536192"/>
          </a:xfrm>
          <a:prstGeom prst="roundRect">
            <a:avLst>
              <a:gd name="adj" fmla="val 4762"/>
            </a:avLst>
          </a:prstGeom>
          <a:solidFill>
            <a:srgbClr val="1A222A"/>
          </a:solidFill>
          <a:ln w="12700">
            <a:solidFill>
              <a:srgbClr val="2B35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" y="1691640"/>
            <a:ext cx="182880" cy="182880"/>
          </a:xfrm>
          <a:prstGeom prst="ellipse">
            <a:avLst/>
          </a:prstGeom>
          <a:solidFill>
            <a:srgbClr val="2DD4A7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1609344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Cámara WiFi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1746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por servidor web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10128" y="1417320"/>
            <a:ext cx="2523744" cy="1536192"/>
          </a:xfrm>
          <a:prstGeom prst="roundRect">
            <a:avLst>
              <a:gd name="adj" fmla="val 4762"/>
            </a:avLst>
          </a:prstGeom>
          <a:solidFill>
            <a:srgbClr val="1A222A"/>
          </a:solidFill>
          <a:ln w="12700">
            <a:solidFill>
              <a:srgbClr val="2B35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47872" y="1691640"/>
            <a:ext cx="182880" cy="182880"/>
          </a:xfrm>
          <a:prstGeom prst="ellipse">
            <a:avLst/>
          </a:prstGeom>
          <a:solidFill>
            <a:srgbClr val="4BA8F5"/>
          </a:solidFill>
          <a:ln w="12700">
            <a:solidFill>
              <a:srgbClr val="4BA8F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58768" y="1609344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Videovigilancia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858768" y="1965960"/>
            <a:ext cx="1746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remoto de un espacio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071616" y="1417320"/>
            <a:ext cx="2523744" cy="1536192"/>
          </a:xfrm>
          <a:prstGeom prst="roundRect">
            <a:avLst>
              <a:gd name="adj" fmla="val 4762"/>
            </a:avLst>
          </a:prstGeom>
          <a:solidFill>
            <a:srgbClr val="1A222A"/>
          </a:solidFill>
          <a:ln w="12700">
            <a:solidFill>
              <a:srgbClr val="2B353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09360" y="1691640"/>
            <a:ext cx="182880" cy="182880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620256" y="1609344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Timbre inteligente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620256" y="1965960"/>
            <a:ext cx="1746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al tocar el botón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191256"/>
            <a:ext cx="2523744" cy="1536192"/>
          </a:xfrm>
          <a:prstGeom prst="roundRect">
            <a:avLst>
              <a:gd name="adj" fmla="val 4762"/>
            </a:avLst>
          </a:prstGeom>
          <a:solidFill>
            <a:srgbClr val="1A222A"/>
          </a:solidFill>
          <a:ln w="12700">
            <a:solidFill>
              <a:srgbClr val="2B353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86384" y="3465576"/>
            <a:ext cx="182880" cy="182880"/>
          </a:xfrm>
          <a:prstGeom prst="ellipse">
            <a:avLst/>
          </a:prstGeom>
          <a:solidFill>
            <a:srgbClr val="2DD4A7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97280" y="3383280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con visión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097280" y="3739896"/>
            <a:ext cx="1746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y seguimiento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310128" y="3191256"/>
            <a:ext cx="2523744" cy="1536192"/>
          </a:xfrm>
          <a:prstGeom prst="roundRect">
            <a:avLst>
              <a:gd name="adj" fmla="val 4762"/>
            </a:avLst>
          </a:prstGeom>
          <a:solidFill>
            <a:srgbClr val="1A222A"/>
          </a:solidFill>
          <a:ln w="12700">
            <a:solidFill>
              <a:srgbClr val="2B353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547872" y="3465576"/>
            <a:ext cx="182880" cy="182880"/>
          </a:xfrm>
          <a:prstGeom prst="ellipse">
            <a:avLst/>
          </a:prstGeom>
          <a:solidFill>
            <a:srgbClr val="4BA8F5"/>
          </a:solidFill>
          <a:ln w="12700">
            <a:solidFill>
              <a:srgbClr val="4BA8F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858768" y="3383280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Time-lapse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3858768" y="3739896"/>
            <a:ext cx="1746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periódica de fotos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071616" y="3191256"/>
            <a:ext cx="2523744" cy="1536192"/>
          </a:xfrm>
          <a:prstGeom prst="roundRect">
            <a:avLst>
              <a:gd name="adj" fmla="val 4762"/>
            </a:avLst>
          </a:prstGeom>
          <a:solidFill>
            <a:srgbClr val="1A222A"/>
          </a:solidFill>
          <a:ln w="12700">
            <a:solidFill>
              <a:srgbClr val="2B353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309360" y="3465576"/>
            <a:ext cx="182880" cy="182880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620256" y="3383280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acceso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620256" y="3739896"/>
            <a:ext cx="1746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visual de entradas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rover/img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1856" y="365760"/>
            <a:ext cx="256032" cy="29260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26680" y="7132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TOSTATRONIC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48"/>
              </a:lnSpc>
              <a:buNone/>
            </a:pPr>
            <a:r>
              <a:rPr lang="en-US" sz="28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conectar nada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cámara ocupa 14 GPIO. Flash y PSRAM se llevan otros 8 — entre ellos GPIO16 y GPIO17, que en los módulos WROVER no se pueden reutilizar.</a:t>
            </a:r>
            <a:endParaRPr lang="en-US" sz="1400" dirty="0"/>
          </a:p>
        </p:txBody>
      </p:sp>
      <p:pic>
        <p:nvPicPr>
          <p:cNvPr id="6" name="Image 1" descr="/home/claude/wrover/img/w-gp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644" y="1481328"/>
            <a:ext cx="5696712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5156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Captura, procesa</a:t>
            </a:r>
            <a:endParaRPr lang="en-US" sz="3400" dirty="0"/>
          </a:p>
          <a:p>
            <a:pPr algn="l"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transmite.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97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por WiFi, desde una placa del tamaño de tu pulgar.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tostatronic.com</a:t>
            </a:r>
            <a:endParaRPr lang="en-US" sz="2400" dirty="0"/>
          </a:p>
        </p:txBody>
      </p:sp>
      <p:pic>
        <p:nvPicPr>
          <p:cNvPr id="5" name="Image 0" descr="/home/claude/wrover/img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280160"/>
            <a:ext cx="1828800" cy="109051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462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 por Tostatronic  ·  Ing. Jorge Alvarado  ·  tostatronic.com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Tostatronic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ESP32-WROVER-CAM con cámara OV2640</dc:title>
  <dc:subject>PptxGenJS Presentation</dc:subject>
  <dc:creator>Ing. Jorge Alvarado — Tostatronic</dc:creator>
  <cp:lastModifiedBy>Ing. Jorge Alvarado — Tostatronic</cp:lastModifiedBy>
  <cp:revision>1</cp:revision>
  <dcterms:created xsi:type="dcterms:W3CDTF">2026-09-19T17:24:00Z</dcterms:created>
  <dcterms:modified xsi:type="dcterms:W3CDTF">2026-09-19T17:24:00Z</dcterms:modified>
</cp:coreProperties>
</file>