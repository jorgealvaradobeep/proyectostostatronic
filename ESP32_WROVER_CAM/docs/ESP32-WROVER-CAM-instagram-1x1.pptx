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24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623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ESP32-WROVER-CAM junta en una sola placa un ESP32 de doble núcleo, 4 MB de PSRAM, WiFi, Bluetooth y una cámara OV2640 de 2 megapíxeles.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necesitas agregarle nada para empezar: el módulo, la memoria, la radio, el convertidor USB y la cámara ya vienen 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diferencia práctica más grande frente a una ESP32-CAM clásica. Conectas el Micro-USB y cargas, como cualquier placa de desarrollo.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cuadro a 1600 por 1200 en RGB565 pesa 3.8 megabytes. La RAM interna del ESP32 son 520 kilobytes en total: no cabe. Por eso la PSRAM no es un lujo en una placa con cámara.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placa levanta su propio servidor web. Abres la IP desde cualquier navegador de la red y ves el video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cosas que la hacen práctica para prototipar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estos salen con la placa tal como viene, sin hardware adicional más allá de la alimentación.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detalle que arruina proyectos: montas un sensor sobre un pin de la cámara y la cámara deja de inicializar. Revisa el pinout antes de diseñar.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Placa y cámara disponibles en tostatronic.com.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463040"/>
            <a:ext cx="3108960" cy="185388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3931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-5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ESP32-WROVER-CAM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4892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 OV2640 · 2 MP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5577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8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WiFi, PSRAM y programación por USB</a:t>
            </a:r>
            <a:endParaRPr lang="en-US" sz="18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8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sola placa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8275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 Tostatronic  ·  Ing. Jorge Alvarado  ·  tostatronic.com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6928"/>
            <a:ext cx="384048" cy="4297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97864" y="603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197864" y="822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integrado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65"/>
              </a:lnSpc>
              <a:buNone/>
            </a:pPr>
            <a:r>
              <a:rPr lang="en-US" sz="17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 doble núcleo, 4 MB de PSRAM, WiFi, Bluetooth y la cámara OV2640.</a:t>
            </a:r>
            <a:endParaRPr lang="en-US" sz="1700" dirty="0"/>
          </a:p>
        </p:txBody>
      </p:sp>
      <p:pic>
        <p:nvPicPr>
          <p:cNvPr id="7" name="Image 1" descr="/home/claude/wrover/img/w-pla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17520"/>
            <a:ext cx="7772400" cy="47918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6928"/>
            <a:ext cx="384048" cy="4297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97864" y="603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197864" y="822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programa con un cable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65"/>
              </a:lnSpc>
              <a:buNone/>
            </a:pPr>
            <a:r>
              <a:rPr lang="en-US" sz="17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CH340C viene integrado. Sin adaptador USB-TTL y sin puentear GPIO0 en cada carga.</a:t>
            </a:r>
            <a:endParaRPr lang="en-US" sz="1700" dirty="0"/>
          </a:p>
        </p:txBody>
      </p:sp>
      <p:pic>
        <p:nvPicPr>
          <p:cNvPr id="7" name="Image 1" descr="/home/claude/wrover/img/w-u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17520"/>
            <a:ext cx="7772400" cy="45346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6928"/>
            <a:ext cx="384048" cy="4297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97864" y="603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197864" y="822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 sirven 4 MB de PSRAM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65"/>
              </a:lnSpc>
              <a:buNone/>
            </a:pPr>
            <a:r>
              <a:rPr lang="en-US" sz="17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vive el cuadro de imagen. Es lo que te deja usar la resolución completa del sensor.</a:t>
            </a:r>
            <a:endParaRPr lang="en-US" sz="1700" dirty="0"/>
          </a:p>
        </p:txBody>
      </p:sp>
      <p:pic>
        <p:nvPicPr>
          <p:cNvPr id="7" name="Image 1" descr="/home/claude/wrover/img/w-ps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017520"/>
            <a:ext cx="7543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6928"/>
            <a:ext cx="384048" cy="4297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97864" y="603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197864" y="822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lente al navegador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65"/>
              </a:lnSpc>
              <a:buNone/>
            </a:pPr>
            <a:r>
              <a:rPr lang="en-US" sz="17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Captura, comprime y sirve el video por WiFi. Sin servidor externo.</a:t>
            </a:r>
            <a:endParaRPr lang="en-US" sz="1700" dirty="0"/>
          </a:p>
        </p:txBody>
      </p:sp>
      <p:pic>
        <p:nvPicPr>
          <p:cNvPr id="7" name="Image 1" descr="/home/claude/wrover/img/w-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17520"/>
            <a:ext cx="7772400" cy="47918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6928"/>
            <a:ext cx="384048" cy="4297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97864" y="603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197864" y="822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85800" y="2788920"/>
            <a:ext cx="7772400" cy="1298448"/>
          </a:xfrm>
          <a:prstGeom prst="roundRect">
            <a:avLst>
              <a:gd name="adj" fmla="val 5634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923544" y="3063240"/>
            <a:ext cx="182880" cy="182880"/>
          </a:xfrm>
          <a:prstGeom prst="ellipse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 txBox="1"/>
          <p:nvPr/>
        </p:nvSpPr>
        <p:spPr>
          <a:xfrm>
            <a:off x="1234440" y="2980944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programa por USB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3337560"/>
            <a:ext cx="6995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cable Micro-USB. Sin FTDI ni puentear GPIO0.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85800" y="4325112"/>
            <a:ext cx="7772400" cy="1298448"/>
          </a:xfrm>
          <a:prstGeom prst="roundRect">
            <a:avLst>
              <a:gd name="adj" fmla="val 5634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923544" y="4599432"/>
            <a:ext cx="182880" cy="182880"/>
          </a:xfrm>
          <a:prstGeom prst="ellipse">
            <a:avLst/>
          </a:prstGeom>
          <a:solidFill>
            <a:srgbClr val="4BA8F5"/>
          </a:solidFill>
          <a:ln w="12700">
            <a:solidFill>
              <a:srgbClr val="4BA8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 txBox="1"/>
          <p:nvPr/>
        </p:nvSpPr>
        <p:spPr>
          <a:xfrm>
            <a:off x="1234440" y="4517136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MB de PSRAM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4873752"/>
            <a:ext cx="6995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de imagen a resolución completa del sensor.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85800" y="5861304"/>
            <a:ext cx="7772400" cy="1298448"/>
          </a:xfrm>
          <a:prstGeom prst="roundRect">
            <a:avLst>
              <a:gd name="adj" fmla="val 5634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923544" y="6135624"/>
            <a:ext cx="182880" cy="1828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 txBox="1"/>
          <p:nvPr/>
        </p:nvSpPr>
        <p:spPr>
          <a:xfrm>
            <a:off x="1234440" y="6053328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 núcleo a 240 MHz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6409944"/>
            <a:ext cx="6995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núcleo captura, el otro sirve la red.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85800" y="7397496"/>
            <a:ext cx="7772400" cy="1298448"/>
          </a:xfrm>
          <a:prstGeom prst="roundRect">
            <a:avLst>
              <a:gd name="adj" fmla="val 5634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6"/>
          <p:cNvSpPr/>
          <p:nvPr/>
        </p:nvSpPr>
        <p:spPr>
          <a:xfrm>
            <a:off x="923544" y="7671816"/>
            <a:ext cx="182880" cy="182880"/>
          </a:xfrm>
          <a:prstGeom prst="ellipse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 txBox="1"/>
          <p:nvPr/>
        </p:nvSpPr>
        <p:spPr>
          <a:xfrm>
            <a:off x="1234440" y="7589520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WiFi, Bluetooth y antena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" y="7946136"/>
            <a:ext cx="6995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integrada, sin módulos extra.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6928"/>
            <a:ext cx="384048" cy="4297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97864" y="603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197864" y="822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que puedes armar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85800" y="2788920"/>
            <a:ext cx="3767328" cy="1600200"/>
          </a:xfrm>
          <a:prstGeom prst="roundRect">
            <a:avLst>
              <a:gd name="adj" fmla="val 4571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923544" y="3063240"/>
            <a:ext cx="182880" cy="182880"/>
          </a:xfrm>
          <a:prstGeom prst="ellipse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 txBox="1"/>
          <p:nvPr/>
        </p:nvSpPr>
        <p:spPr>
          <a:xfrm>
            <a:off x="1234440" y="2980944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 WiFi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3337560"/>
            <a:ext cx="29900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por servidor web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90872" y="2788920"/>
            <a:ext cx="3767328" cy="1600200"/>
          </a:xfrm>
          <a:prstGeom prst="roundRect">
            <a:avLst>
              <a:gd name="adj" fmla="val 4571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4928616" y="3063240"/>
            <a:ext cx="182880" cy="182880"/>
          </a:xfrm>
          <a:prstGeom prst="ellipse">
            <a:avLst/>
          </a:prstGeom>
          <a:solidFill>
            <a:srgbClr val="4BA8F5"/>
          </a:solidFill>
          <a:ln w="12700">
            <a:solidFill>
              <a:srgbClr val="4BA8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 txBox="1"/>
          <p:nvPr/>
        </p:nvSpPr>
        <p:spPr>
          <a:xfrm>
            <a:off x="5239512" y="2980944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Videovigilancia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239512" y="3337560"/>
            <a:ext cx="29900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remoto de un espacio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85800" y="4626864"/>
            <a:ext cx="3767328" cy="1600200"/>
          </a:xfrm>
          <a:prstGeom prst="roundRect">
            <a:avLst>
              <a:gd name="adj" fmla="val 4571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923544" y="4901184"/>
            <a:ext cx="182880" cy="1828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 txBox="1"/>
          <p:nvPr/>
        </p:nvSpPr>
        <p:spPr>
          <a:xfrm>
            <a:off x="1234440" y="4818888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Timbre inteligente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5175504"/>
            <a:ext cx="29900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al tocar el botón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690872" y="4626864"/>
            <a:ext cx="3767328" cy="1600200"/>
          </a:xfrm>
          <a:prstGeom prst="roundRect">
            <a:avLst>
              <a:gd name="adj" fmla="val 4571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6"/>
          <p:cNvSpPr/>
          <p:nvPr/>
        </p:nvSpPr>
        <p:spPr>
          <a:xfrm>
            <a:off x="4928616" y="4901184"/>
            <a:ext cx="182880" cy="182880"/>
          </a:xfrm>
          <a:prstGeom prst="ellipse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 txBox="1"/>
          <p:nvPr/>
        </p:nvSpPr>
        <p:spPr>
          <a:xfrm>
            <a:off x="5239512" y="4818888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con visión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239512" y="5175504"/>
            <a:ext cx="29900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y seguimiento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85800" y="6464808"/>
            <a:ext cx="3767328" cy="1600200"/>
          </a:xfrm>
          <a:prstGeom prst="roundRect">
            <a:avLst>
              <a:gd name="adj" fmla="val 4571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0"/>
          <p:cNvSpPr/>
          <p:nvPr/>
        </p:nvSpPr>
        <p:spPr>
          <a:xfrm>
            <a:off x="923544" y="6739128"/>
            <a:ext cx="182880" cy="182880"/>
          </a:xfrm>
          <a:prstGeom prst="ellipse">
            <a:avLst/>
          </a:prstGeom>
          <a:solidFill>
            <a:srgbClr val="4BA8F5"/>
          </a:solidFill>
          <a:ln w="12700">
            <a:solidFill>
              <a:srgbClr val="4BA8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1"/>
          <p:cNvSpPr txBox="1"/>
          <p:nvPr/>
        </p:nvSpPr>
        <p:spPr>
          <a:xfrm>
            <a:off x="1234440" y="6656832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Time-lapse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1234440" y="7013448"/>
            <a:ext cx="29900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periódica de fotos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690872" y="6464808"/>
            <a:ext cx="3767328" cy="1600200"/>
          </a:xfrm>
          <a:prstGeom prst="roundRect">
            <a:avLst>
              <a:gd name="adj" fmla="val 4571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4"/>
          <p:cNvSpPr/>
          <p:nvPr/>
        </p:nvSpPr>
        <p:spPr>
          <a:xfrm>
            <a:off x="4928616" y="6739128"/>
            <a:ext cx="182880" cy="1828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5"/>
          <p:cNvSpPr txBox="1"/>
          <p:nvPr/>
        </p:nvSpPr>
        <p:spPr>
          <a:xfrm>
            <a:off x="5239512" y="6656832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acceso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239512" y="7013448"/>
            <a:ext cx="29900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visual de entradas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6928"/>
            <a:ext cx="384048" cy="4297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97864" y="603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197864" y="822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conectar nada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39"/>
            <a:ext cx="7772400" cy="64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65"/>
              </a:lnSpc>
              <a:buNone/>
            </a:pPr>
            <a:r>
              <a:rPr lang="en-US" sz="17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cámara ocupa 14 GPIO. Flash y PSRAM se llevan otros 8 — entre ellos GPIO16 y GPIO17, que en los módulos WROVER no se pueden reutilizar.</a:t>
            </a:r>
            <a:endParaRPr lang="en-US" sz="1700" dirty="0"/>
          </a:p>
        </p:txBody>
      </p:sp>
      <p:pic>
        <p:nvPicPr>
          <p:cNvPr id="7" name="Image 1" descr="/home/claude/wrover/img/w-gp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17520"/>
            <a:ext cx="7772400" cy="43665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0312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Captura, procesa</a:t>
            </a:r>
            <a:endParaRPr lang="en-US" sz="4200" dirty="0"/>
          </a:p>
          <a:p>
            <a:pPr marL="0" indent="0" algn="ctr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transmite.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434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por WiFi, desde una placa del tamaño de tu pulgar.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212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tostatronic.com</a:t>
            </a:r>
            <a:endParaRPr lang="en-US" sz="3000" dirty="0"/>
          </a:p>
        </p:txBody>
      </p:sp>
      <p:pic>
        <p:nvPicPr>
          <p:cNvPr id="5" name="Image 0" descr="/home/claude/wrover/img/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6309360"/>
            <a:ext cx="2651760" cy="15812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8275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 Tostatronic  ·  Ing. Jorge Alvarado  ·  tostatronic.com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537</Words>
  <Application>Microsoft Macintosh PowerPoint</Application>
  <PresentationFormat>Personalizado</PresentationFormat>
  <Paragraphs>74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Tostatronic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ESP32-WROVER-CAM con cámara OV2640</dc:title>
  <dc:subject>PptxGenJS Presentation</dc:subject>
  <dc:creator>Ing. Jorge Alvarado — Tostatronic</dc:creator>
  <cp:lastModifiedBy>ALVARADO TOSTADO, JORGE HUMBERTO</cp:lastModifiedBy>
  <cp:revision>2</cp:revision>
  <dcterms:created xsi:type="dcterms:W3CDTF">2026-09-19T17:24:00Z</dcterms:created>
  <dcterms:modified xsi:type="dcterms:W3CDTF">2026-09-19T18:40:47Z</dcterms:modified>
</cp:coreProperties>
</file>